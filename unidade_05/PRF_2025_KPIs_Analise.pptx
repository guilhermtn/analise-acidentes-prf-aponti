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Letalidade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Simples</c:v>
                  </c:pt>
                  <c:pt idx="1">
                    <c:v>Dupla</c:v>
                  </c:pt>
                  <c:pt idx="2">
                    <c:v>Múltipla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9.86</c:v>
                </c:pt>
                <c:pt idx="1">
                  <c:v>4.88</c:v>
                </c:pt>
                <c:pt idx="2">
                  <c:v>4.06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7324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D1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majorGridlines>
          <c:spPr>
            <a:ln w="9525" cap="flat">
              <a:solidFill>
                <a:srgbClr val="27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0E15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4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Letalidade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Amanhecer</c:v>
                  </c:pt>
                  <c:pt idx="1">
                    <c:v>Pleno dia</c:v>
                  </c:pt>
                  <c:pt idx="2">
                    <c:v>Anoitecer</c:v>
                  </c:pt>
                  <c:pt idx="3">
                    <c:v>Plena Noite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5.07</c:v>
                </c:pt>
                <c:pt idx="2">
                  <c:v>6.44</c:v>
                </c:pt>
                <c:pt idx="3">
                  <c:v>10.18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7324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D1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.5"/>
          <c:min val="0"/>
        </c:scaling>
        <c:delete val="1"/>
        <c:axPos val="l"/>
        <c:majorGridlines>
          <c:spPr>
            <a:ln w="9525" cap="flat">
              <a:solidFill>
                <a:srgbClr val="27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0E15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4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Letalidade</c:v>
                </c:pt>
              </c:strCache>
            </c:strRef>
          </c:tx>
          <c:spPr>
            <a:solidFill>
              <a:srgbClr val="4A5B84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Ingestão de álcool</c:v>
                  </c:pt>
                  <c:pt idx="1">
                    <c:v>Reação tardia</c:v>
                  </c:pt>
                  <c:pt idx="2">
                    <c:v>Ausência de reação</c:v>
                  </c:pt>
                  <c:pt idx="3">
                    <c:v>Velocidade incompatível</c:v>
                  </c:pt>
                  <c:pt idx="4">
                    <c:v>Transitar no acostamento</c:v>
                  </c:pt>
                  <c:pt idx="5">
                    <c:v>Ultrapassagem indevida</c:v>
                  </c:pt>
                  <c:pt idx="6">
                    <c:v>Transitar na contramão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4.88</c:v>
                </c:pt>
                <c:pt idx="1">
                  <c:v>4.89</c:v>
                </c:pt>
                <c:pt idx="2">
                  <c:v>6.79</c:v>
                </c:pt>
                <c:pt idx="3">
                  <c:v>9.42</c:v>
                </c:pt>
                <c:pt idx="4">
                  <c:v>13.05</c:v>
                </c:pt>
                <c:pt idx="5">
                  <c:v>17.06</c:v>
                </c:pt>
                <c:pt idx="6">
                  <c:v>29.74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7324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7D1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"/>
          <c:min val="0"/>
        </c:scaling>
        <c:delete val="1"/>
        <c:axPos val="b"/>
        <c:majorGridlines>
          <c:spPr>
            <a:ln w="9525" cap="flat">
              <a:solidFill>
                <a:srgbClr val="27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E15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4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Letalidade</c:v>
                </c:pt>
              </c:strCache>
            </c:strRef>
          </c:tx>
          <c:spPr>
            <a:solidFill>
              <a:srgbClr val="4A5B84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Ingestão de álcool</c:v>
                  </c:pt>
                  <c:pt idx="1">
                    <c:v>Reação tardia</c:v>
                  </c:pt>
                  <c:pt idx="2">
                    <c:v>Ausência de reação</c:v>
                  </c:pt>
                  <c:pt idx="3">
                    <c:v>Velocidade incompatível</c:v>
                  </c:pt>
                  <c:pt idx="4">
                    <c:v>Transitar no acostamento</c:v>
                  </c:pt>
                  <c:pt idx="5">
                    <c:v>Ultrapassagem indevida</c:v>
                  </c:pt>
                  <c:pt idx="6">
                    <c:v>Transitar na contramão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4.88</c:v>
                </c:pt>
                <c:pt idx="1">
                  <c:v>4.89</c:v>
                </c:pt>
                <c:pt idx="2">
                  <c:v>6.79</c:v>
                </c:pt>
                <c:pt idx="3">
                  <c:v>9.42</c:v>
                </c:pt>
                <c:pt idx="4">
                  <c:v>13.05</c:v>
                </c:pt>
                <c:pt idx="5">
                  <c:v>17.06</c:v>
                </c:pt>
                <c:pt idx="6">
                  <c:v>29.74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7324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7D1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"/>
          <c:min val="0"/>
        </c:scaling>
        <c:delete val="1"/>
        <c:axPos val="b"/>
        <c:majorGridlines>
          <c:spPr>
            <a:ln w="9525" cap="flat">
              <a:solidFill>
                <a:srgbClr val="27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E15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4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Letalidade</c:v>
                </c:pt>
              </c:strCache>
            </c:strRef>
          </c:tx>
          <c:spPr>
            <a:solidFill>
              <a:srgbClr val="4A5B84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5B84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Céu Claro</c:v>
                  </c:pt>
                  <c:pt idx="1">
                    <c:v>Sol</c:v>
                  </c:pt>
                  <c:pt idx="2">
                    <c:v>Nublado</c:v>
                  </c:pt>
                  <c:pt idx="3">
                    <c:v>Chuva</c:v>
                  </c:pt>
                  <c:pt idx="4">
                    <c:v>Garoa/Chuvisco</c:v>
                  </c:pt>
                  <c:pt idx="5">
                    <c:v>Vento</c:v>
                  </c:pt>
                  <c:pt idx="6">
                    <c:v>Nevoeiro/Neblina</c:v>
                  </c:pt>
                  <c:pt idx="7">
                    <c:v>Ignorado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7.37</c:v>
                </c:pt>
                <c:pt idx="1">
                  <c:v>5.88</c:v>
                </c:pt>
                <c:pt idx="2">
                  <c:v>7.26</c:v>
                </c:pt>
                <c:pt idx="3">
                  <c:v>6.24</c:v>
                </c:pt>
                <c:pt idx="4">
                  <c:v>5.95</c:v>
                </c:pt>
                <c:pt idx="5">
                  <c:v>8.65</c:v>
                </c:pt>
                <c:pt idx="6">
                  <c:v>10.85</c:v>
                </c:pt>
                <c:pt idx="7">
                  <c:v>9.9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7324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7D1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.5"/>
          <c:min val="0"/>
        </c:scaling>
        <c:delete val="1"/>
        <c:axPos val="l"/>
        <c:majorGridlines>
          <c:spPr>
            <a:ln w="9525" cap="flat">
              <a:solidFill>
                <a:srgbClr val="27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0E15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4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15875">
            <a:solidFill>
              <a:srgbClr val="3FC1C9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-731520"/>
            <a:ext cx="3474720" cy="3474720"/>
          </a:xfrm>
          <a:prstGeom prst="ellipse">
            <a:avLst/>
          </a:prstGeom>
          <a:ln w="15875">
            <a:solidFill>
              <a:srgbClr val="3FC1C9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-91440"/>
            <a:ext cx="2194560" cy="2194560"/>
          </a:xfrm>
          <a:prstGeom prst="ellipse">
            <a:avLst/>
          </a:prstGeom>
          <a:ln w="15875">
            <a:solidFill>
              <a:srgbClr val="3FC1C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3657600"/>
            <a:ext cx="4754880" cy="4754880"/>
          </a:xfrm>
          <a:prstGeom prst="ellipse">
            <a:avLst/>
          </a:prstGeom>
          <a:ln w="15875">
            <a:solidFill>
              <a:srgbClr val="3FC1C9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0" y="4297680"/>
            <a:ext cx="3474720" cy="3474720"/>
          </a:xfrm>
          <a:prstGeom prst="ellipse">
            <a:avLst/>
          </a:prstGeom>
          <a:ln w="15875">
            <a:solidFill>
              <a:srgbClr val="3FC1C9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4937760"/>
            <a:ext cx="2194560" cy="2194560"/>
          </a:xfrm>
          <a:prstGeom prst="ellipse">
            <a:avLst/>
          </a:prstGeom>
          <a:ln w="15875">
            <a:solidFill>
              <a:srgbClr val="3FC1C9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KPIs DE TRÂNSITO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SINAIS DE RISCO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RODOVIAS FEDERAIS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analítica dos indicadores de letalidade a partir dos dados abertos da PRF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4251960"/>
            <a:ext cx="7772400" cy="0"/>
          </a:xfrm>
          <a:prstGeom prst="line">
            <a:avLst/>
          </a:prstGeom>
          <a:noFill/>
          <a:ln w="12700">
            <a:solidFill>
              <a:srgbClr val="27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2025   |   72.529 ocorrências   |   5.210 acidentes fatais   |   Letalidade média: 7,18%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José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Dados Abertos de Acidentes — Polícia Rodoviária Federal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SEVERIDADE EM PISTAS SIMPLES (ISPS)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Fatalidade por Tipo de Pista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estrutural — engenharia e classificação viária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55064"/>
            <a:ext cx="320040" cy="0"/>
          </a:xfrm>
          <a:prstGeom prst="line">
            <a:avLst/>
          </a:prstGeom>
          <a:noFill/>
          <a:ln w="22225">
            <a:solidFill>
              <a:srgbClr val="3FC1C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8696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Global de Letalidade (7,18%)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783080"/>
          <a:ext cx="60350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3345104"/>
            <a:ext cx="5486400" cy="0"/>
          </a:xfrm>
          <a:prstGeom prst="line">
            <a:avLst/>
          </a:prstGeom>
          <a:noFill/>
          <a:ln w="19050">
            <a:solidFill>
              <a:srgbClr val="3FC1C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16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2103120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/>
          <p:nvPr/>
        </p:nvSpPr>
        <p:spPr>
          <a:xfrm>
            <a:off x="7187184" y="205740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Integrada de Risco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2386584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pista traduz uma característica física da rodovia: pistas simples obrigam fluxos opostos a dividir o mesmo espaço. O resultado é uma letalidade de 9,86%, quase o dobro da observada em pista dupla (4,88%) e bem acima da taxa nacional de 7,18%.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3685032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3"/>
          <p:cNvSpPr/>
          <p:nvPr/>
        </p:nvSpPr>
        <p:spPr>
          <a:xfrm>
            <a:off x="7187184" y="3639312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Comparações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3968496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simples concentra 47,9% do volume de acidentes, mas responde por 65,7% das mortes do período — um desequilíbrio de quase 18 pontos percentuais. Já pista dupla, com volume semelhante (42,4%), responde por apenas 28,8% dos óbitos.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49440" y="5266944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6"/>
          <p:cNvSpPr/>
          <p:nvPr/>
        </p:nvSpPr>
        <p:spPr>
          <a:xfrm>
            <a:off x="7187184" y="5221224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Direcionamento Estratégico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49440" y="555040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obras de duplicação e implantação de barreiras físicas (defensas/canteiro) nos trechos de maior fluxo em pista simples, além de reforçar sinalização de proibição de ultrapassagem nos segmentos com histórico de colisão frontal.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01 de 05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0" y="65288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 2025 · Análise de KPIs de Letalidade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LETALIDADE NOTURNA (FLN)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Fatalidade por Fase do Dia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operacional — escalonamento e turnos de patrulhamento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55064"/>
            <a:ext cx="320040" cy="0"/>
          </a:xfrm>
          <a:prstGeom prst="line">
            <a:avLst/>
          </a:prstGeom>
          <a:noFill/>
          <a:ln w="22225">
            <a:solidFill>
              <a:srgbClr val="3FC1C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8696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Global de Letalidade (7,18%)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783080"/>
          <a:ext cx="60350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3646018"/>
            <a:ext cx="5486400" cy="0"/>
          </a:xfrm>
          <a:prstGeom prst="line">
            <a:avLst/>
          </a:prstGeom>
          <a:noFill/>
          <a:ln w="19050">
            <a:solidFill>
              <a:srgbClr val="3FC1C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16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2103120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/>
          <p:nvPr/>
        </p:nvSpPr>
        <p:spPr>
          <a:xfrm>
            <a:off x="7187184" y="205740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Integrada de Risco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2386584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letalidade por fase do dia isola um fator de baixo custo operacional: não exige obra, apenas gestão de efetivo. Amanhecer (11,20%) e Plena Noite (10,18%) concentram cerca do dobro da letalidade do Pleno Dia (5,07%), refletindo fadiga, sonolência e menor visibilidade.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3730752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3"/>
          <p:cNvSpPr/>
          <p:nvPr/>
        </p:nvSpPr>
        <p:spPr>
          <a:xfrm>
            <a:off x="7187184" y="3685032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Comparações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4014216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Plena Noite responde por 34,2% do volume de acidentes, mas por 48,4% das mortes — quase metade dos óbitos concentrada em pouco mais de um terço das ocorrências. O Amanhecer, com apenas 4,8% do volume, já representa 7,4% das mortes (1,56x a taxa nacional).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49440" y="5358384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6"/>
          <p:cNvSpPr/>
          <p:nvPr/>
        </p:nvSpPr>
        <p:spPr>
          <a:xfrm>
            <a:off x="7187184" y="5312664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Direcionamento Estratégico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49440" y="564184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Redistribuir o efetivo de fiscalização para reforçar o período entre a madrugada e o amanhecer, priorizando blitze de embriaguez e verificação de fadiga do condutor nesses turnos críticos.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02 de 05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0" y="65288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 2025 · Análise de KPIs de Letalidade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RISCO — CONDUÇÃO NA CONTRAMÃO (TRCL)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Fatalidade por Transitar na Contramão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comportamental — invasão de sentido de pista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55064"/>
            <a:ext cx="320040" cy="0"/>
          </a:xfrm>
          <a:prstGeom prst="line">
            <a:avLst/>
          </a:prstGeom>
          <a:noFill/>
          <a:ln w="22225">
            <a:solidFill>
              <a:srgbClr val="3FC1C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8696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Global de Letalidade (7,18%)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1783080"/>
          <a:ext cx="62179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451583" y="1920240"/>
            <a:ext cx="0" cy="4251960"/>
          </a:xfrm>
          <a:prstGeom prst="line">
            <a:avLst/>
          </a:prstGeom>
          <a:noFill/>
          <a:ln w="19050">
            <a:solidFill>
              <a:srgbClr val="3FC1C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16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2103120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/>
          <p:nvPr/>
        </p:nvSpPr>
        <p:spPr>
          <a:xfrm>
            <a:off x="7187184" y="205740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Integrada de Risco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2386584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Transitar na contramão é a conduta de direção mais letal mapeada na base: 29,74% de letalidade em 2.475 registros — quase 3 vezes a taxa nacional. A gravidade decorre do tipo de colisão que costuma gerar (frontal, em alta velocidade relativa), com maior potencial de vítimas fatais múltiplas.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3867912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3"/>
          <p:cNvSpPr/>
          <p:nvPr/>
        </p:nvSpPr>
        <p:spPr>
          <a:xfrm>
            <a:off x="7187184" y="3822192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Comparações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4151376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letalidade da contramão (29,74%) é 4,1x a taxa nacional (7,18%) e supera com folga causas de volume muito maior, como ausência de reação do condutor (6,79%, 11.469 casos) e reação tardia (4,89%, 10.799 casos) — volume alto não é sinônimo de gravidade.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49440" y="5586984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6"/>
          <p:cNvSpPr/>
          <p:nvPr/>
        </p:nvSpPr>
        <p:spPr>
          <a:xfrm>
            <a:off x="7187184" y="5541264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Direcionamento Estratégico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49440" y="587044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fiscalização eletrônica e barreiras físicas (canteiro central, defensas, faixa dupla contínua) em trechos de pista simples com histórico de invasão de sentido, sobretudo em rodovias de tráfego misto e alta velocidade.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03 de 05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0" y="65288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 2025 · Análise de KPIs de Letalidade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LETALIDADE — ULTRAPASSAGEM (TLUV)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Fatalidade por Ultrapassagem Indevida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comportamental — manobra de ultrapassagem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55064"/>
            <a:ext cx="320040" cy="0"/>
          </a:xfrm>
          <a:prstGeom prst="line">
            <a:avLst/>
          </a:prstGeom>
          <a:noFill/>
          <a:ln w="22225">
            <a:solidFill>
              <a:srgbClr val="3FC1C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8696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Global de Letalidade (7,18%)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1783080"/>
          <a:ext cx="62179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451583" y="1920240"/>
            <a:ext cx="0" cy="4251960"/>
          </a:xfrm>
          <a:prstGeom prst="line">
            <a:avLst/>
          </a:prstGeom>
          <a:noFill/>
          <a:ln w="19050">
            <a:solidFill>
              <a:srgbClr val="3FC1C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16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2103120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/>
          <p:nvPr/>
        </p:nvSpPr>
        <p:spPr>
          <a:xfrm>
            <a:off x="7187184" y="205740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Integrada de Risco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2386584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ultrapassagem indevida responde por 1.770 acidentes fatais registrados, com letalidade de 17,06% — mais que o dobro da taxa nacional. A manobra tende a resultar em colisões frontais ou laterais em alta velocidade, somando os dois fatores de maior gravidade: velocidade e invasão de faixa.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3867912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3"/>
          <p:cNvSpPr/>
          <p:nvPr/>
        </p:nvSpPr>
        <p:spPr>
          <a:xfrm>
            <a:off x="7187184" y="3822192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Comparações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4151376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letalidade da ultrapassagem indevida é 2,4x a taxa nacional (7,18%) e só é superada por transitar na contramão (29,74%) entre as condutas de direção mapeadas — juntas, as duas concentram os maiores índices de gravidade por conduta do condutor.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49440" y="5586984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6"/>
          <p:cNvSpPr/>
          <p:nvPr/>
        </p:nvSpPr>
        <p:spPr>
          <a:xfrm>
            <a:off x="7187184" y="5541264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Direcionamento Estratégico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49440" y="587044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faixas de ultrapassagem segura em trechos de pista simples, reforçar sinalização de "proibido ultrapassar" em curvas e aclives críticos, e intensificar fiscalização eletrônica de ultrapassagem em pontos de alto risco.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04 de 05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0" y="65288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 2025 · Análise de KPIs de Letalidade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RISCO CLIMÁTICO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Fatalidade por Condição Meteorológica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ambiental — sazonalidade e visibilidade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55064"/>
            <a:ext cx="320040" cy="0"/>
          </a:xfrm>
          <a:prstGeom prst="line">
            <a:avLst/>
          </a:prstGeom>
          <a:noFill/>
          <a:ln w="22225">
            <a:solidFill>
              <a:srgbClr val="3FC1C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8696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Global de Letalidade (7,18%)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1783080"/>
          <a:ext cx="62179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3453433"/>
            <a:ext cx="5760720" cy="0"/>
          </a:xfrm>
          <a:prstGeom prst="line">
            <a:avLst/>
          </a:prstGeom>
          <a:noFill/>
          <a:ln w="19050">
            <a:solidFill>
              <a:srgbClr val="3FC1C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629400" y="17830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16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2103120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/>
          <p:nvPr/>
        </p:nvSpPr>
        <p:spPr>
          <a:xfrm>
            <a:off x="7187184" y="205740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Integrada de Risco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2386584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climática é uma variável externa, mas previsível sazonalmente. Sob neblina/nevoeiro, a letalidade atinge 10,85% — cerca de 51% acima da média nacional — evidenciando o impacto da baixa visibilidade, mesmo com volume reduzido de casos (553 ocorrências, 0,76% do total).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49440" y="3822192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3"/>
          <p:cNvSpPr/>
          <p:nvPr/>
        </p:nvSpPr>
        <p:spPr>
          <a:xfrm>
            <a:off x="7187184" y="3776472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Comparações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4105656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Nevoeiro/neblina é 1,47x mais letal que céu claro (7,37%) e quase 1,85x mais letal que dias de sol (5,88%). "Vento" (8,65%) também supera a média nacional, mas com amostra pequena (104 casos), o que pede leitura cautelosa.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49440" y="5404104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6"/>
          <p:cNvSpPr/>
          <p:nvPr/>
        </p:nvSpPr>
        <p:spPr>
          <a:xfrm>
            <a:off x="7187184" y="5358384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Direcionamento Estratégico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49440" y="568756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sinalização variável e redução de velocidade em trechos de serra propensos a neblina, integrando alertas meteorológicos a painéis de mensagem e reforçando o patrulhamento preventivo nesses horários.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05 de 05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0" y="65288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 2025 · Análise de KPIs de Letalidade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2026-08-27T01:31:58Z</dcterms:created>
  <dcterms:modified xsi:type="dcterms:W3CDTF">2026-08-27T01:31:58Z</dcterms:modified>
</cp:coreProperties>
</file>